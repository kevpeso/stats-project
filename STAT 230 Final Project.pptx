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anrope Light"/>
      <p:regular r:id="rId13"/>
      <p:bold r:id="rId14"/>
    </p:embeddedFont>
    <p:embeddedFont>
      <p:font typeface="Anton"/>
      <p:regular r:id="rId15"/>
    </p:embeddedFont>
    <p:embeddedFont>
      <p:font typeface="Manrope SemiBold"/>
      <p:regular r:id="rId16"/>
      <p:bold r:id="rId17"/>
    </p:embeddedFont>
    <p:embeddedFont>
      <p:font typeface="Manrope"/>
      <p:regular r:id="rId18"/>
      <p:bold r:id="rId19"/>
    </p:embeddedFont>
    <p:embeddedFont>
      <p:font typeface="Manrope ExtraBold"/>
      <p:bold r:id="rId20"/>
    </p:embeddedFont>
    <p:embeddedFont>
      <p:font typeface="Manrope Medium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ExtraBold-bold.fntdata"/><Relationship Id="rId22" Type="http://schemas.openxmlformats.org/officeDocument/2006/relationships/font" Target="fonts/ManropeMedium-bold.fntdata"/><Relationship Id="rId21" Type="http://schemas.openxmlformats.org/officeDocument/2006/relationships/font" Target="fonts/Manrope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anropeLight-regular.fntdata"/><Relationship Id="rId12" Type="http://schemas.openxmlformats.org/officeDocument/2006/relationships/slide" Target="slides/slide6.xml"/><Relationship Id="rId15" Type="http://schemas.openxmlformats.org/officeDocument/2006/relationships/font" Target="fonts/Anton-regular.fntdata"/><Relationship Id="rId14" Type="http://schemas.openxmlformats.org/officeDocument/2006/relationships/font" Target="fonts/ManropeLight-bold.fntdata"/><Relationship Id="rId17" Type="http://schemas.openxmlformats.org/officeDocument/2006/relationships/font" Target="fonts/ManropeSemiBold-bold.fntdata"/><Relationship Id="rId16" Type="http://schemas.openxmlformats.org/officeDocument/2006/relationships/font" Target="fonts/ManropeSemiBold-regular.fntdata"/><Relationship Id="rId19" Type="http://schemas.openxmlformats.org/officeDocument/2006/relationships/font" Target="fonts/Manrope-bold.fntdata"/><Relationship Id="rId18" Type="http://schemas.openxmlformats.org/officeDocument/2006/relationships/font" Target="fonts/Manrop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53dbe1d0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53dbe1d0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53dbe1d05f_0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53dbe1d05f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53dbe1d05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53dbe1d05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53dbe1d05f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53dbe1d05f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53dbe1d05f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53dbe1d05f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53dbe1d05f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53dbe1d05f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55" name="Google Shape;55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6" name="Google Shape;56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9" name="Google Shape;79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1" name="Google Shape;101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02" name="Google Shape;1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4" name="Google Shape;124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" name="Google Shape;1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7" name="Google Shape;147;p14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0" name="Google Shape;150;p14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51" name="Google Shape;151;p14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60" name="Google Shape;160;p16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6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6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6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6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6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6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6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6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69" name="Google Shape;169;p16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6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6" name="Google Shape;176;p1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1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1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5" name="Google Shape;185;p1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p17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7" name="Google Shape;187;p17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8" name="Google Shape;188;p1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9" name="Google Shape;189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0" name="Google Shape;190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1" name="Google Shape;191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2" name="Google Shape;192;p1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3" name="Google Shape;193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4" name="Google Shape;194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5" name="Google Shape;195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6" name="Google Shape;196;p1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7" name="Google Shape;197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8" name="Google Shape;198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0" name="Google Shape;200;p1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01" name="Google Shape;201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2" name="Google Shape;202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03" name="Google Shape;203;p1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04" name="Google Shape;204;p1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7" name="Google Shape;207;p17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09" name="Google Shape;209;p17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0" name="Google Shape;210;p17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1" name="Google Shape;211;p17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7" name="Google Shape;217;p18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9" name="Google Shape;219;p18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18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24" name="Google Shape;224;p18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8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8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9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30" name="Google Shape;230;p19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9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9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9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9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19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9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19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9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39" name="Google Shape;239;p1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1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41" name="Google Shape;241;p1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42" name="Google Shape;242;p1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3" name="Google Shape;243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4" name="Google Shape;244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5" name="Google Shape;245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46" name="Google Shape;246;p1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7" name="Google Shape;247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8" name="Google Shape;248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9" name="Google Shape;249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0" name="Google Shape;250;p1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1" name="Google Shape;251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2" name="Google Shape;252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3" name="Google Shape;253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4" name="Google Shape;254;p1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55" name="Google Shape;255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57" name="Google Shape;257;p1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58" name="Google Shape;258;p19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59" name="Google Shape;259;p19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0" name="Google Shape;260;p19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1" name="Google Shape;261;p19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9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19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19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2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2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6" name="Google Shape;276;p21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21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8" name="Google Shape;278;p21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2" name="Google Shape;282;p22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22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4" name="Google Shape;284;p22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89" name="Google Shape;289;p2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2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2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98" name="Google Shape;298;p23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9" name="Google Shape;299;p23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00" name="Google Shape;300;p23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01" name="Google Shape;301;p23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2" name="Google Shape;302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3" name="Google Shape;303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4" name="Google Shape;304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5" name="Google Shape;305;p23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6" name="Google Shape;306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7" name="Google Shape;307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8" name="Google Shape;308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9" name="Google Shape;309;p23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310" name="Google Shape;310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1" name="Google Shape;311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2" name="Google Shape;312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13" name="Google Shape;313;p23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14" name="Google Shape;314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5" name="Google Shape;315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16" name="Google Shape;316;p23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17" name="Google Shape;317;p2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321" name="Google Shape;321;p24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322" name="Google Shape;322;p24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323" name="Google Shape;323;p24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24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8" name="Google Shape;328;p24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0" name="Google Shape;330;p24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1" name="Google Shape;331;p24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25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" name="Google Shape;335;p2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25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37" name="Google Shape;337;p2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41" name="Google Shape;341;p2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5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6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46" name="Google Shape;346;p2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47" name="Google Shape;347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69" name="Google Shape;369;p2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0" name="Google Shape;370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92" name="Google Shape;392;p2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93" name="Google Shape;393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1" name="Google Shape;401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2" name="Google Shape;412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3" name="Google Shape;413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4" name="Google Shape;414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15" name="Google Shape;415;p2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16" name="Google Shape;416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7" name="Google Shape;417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8" name="Google Shape;418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9" name="Google Shape;419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3" name="Google Shape;423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38" name="Google Shape;438;p26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39" name="Google Shape;439;p26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0" name="Google Shape;440;p26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41" name="Google Shape;441;p26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7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444" name="Google Shape;444;p27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5" name="Google Shape;445;p27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6" name="Google Shape;446;p27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27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7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7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7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27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7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7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7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5" name="Google Shape;455;p27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6" name="Google Shape;456;p27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57" name="Google Shape;457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8" name="Google Shape;45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1" name="Google Shape;46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2" name="Google Shape;46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3" name="Google Shape;46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4" name="Google Shape;46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5" name="Google Shape;46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6" name="Google Shape;46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7" name="Google Shape;467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8" name="Google Shape;46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1" name="Google Shape;47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2" name="Google Shape;47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3" name="Google Shape;47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4" name="Google Shape;47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5" name="Google Shape;47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6" name="Google Shape;47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7" name="Google Shape;477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8" name="Google Shape;47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1" name="Google Shape;48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2" name="Google Shape;48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3" name="Google Shape;48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4" name="Google Shape;48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85" name="Google Shape;48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6" name="Google Shape;48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7" name="Google Shape;487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8" name="Google Shape;48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9" name="Google Shape;48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0" name="Google Shape;49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91" name="Google Shape;49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92" name="Google Shape;49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3" name="Google Shape;49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94" name="Google Shape;494;p27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95" name="Google Shape;495;p27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96" name="Google Shape;496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97" name="Google Shape;49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98" name="Google Shape;49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9" name="Google Shape;49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0" name="Google Shape;50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01" name="Google Shape;50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2" name="Google Shape;50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3" name="Google Shape;50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04" name="Google Shape;50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5" name="Google Shape;50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06" name="Google Shape;506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07" name="Google Shape;50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08" name="Google Shape;50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9" name="Google Shape;50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0" name="Google Shape;51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11" name="Google Shape;51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2" name="Google Shape;51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3" name="Google Shape;51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14" name="Google Shape;51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5" name="Google Shape;51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16" name="Google Shape;516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17" name="Google Shape;51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18" name="Google Shape;51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9" name="Google Shape;51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0" name="Google Shape;52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21" name="Google Shape;52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2" name="Google Shape;52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3" name="Google Shape;52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24" name="Google Shape;52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5" name="Google Shape;52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26" name="Google Shape;526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27" name="Google Shape;52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28" name="Google Shape;52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9" name="Google Shape;52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30" name="Google Shape;53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31" name="Google Shape;53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2" name="Google Shape;53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33" name="Google Shape;533;p27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34" name="Google Shape;534;p27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8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537" name="Google Shape;537;p28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38" name="Google Shape;538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9" name="Google Shape;539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0" name="Google Shape;560;p28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1" name="Google Shape;561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2" name="Google Shape;562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3" name="Google Shape;583;p28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84" name="Google Shape;584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5" name="Google Shape;585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0" name="Google Shape;590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4" name="Google Shape;594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5" name="Google Shape;595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6" name="Google Shape;596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7" name="Google Shape;597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8" name="Google Shape;598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9" name="Google Shape;599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0" name="Google Shape;600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1" name="Google Shape;601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2" name="Google Shape;602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3" name="Google Shape;603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4" name="Google Shape;604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5" name="Google Shape;605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06" name="Google Shape;606;p28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07" name="Google Shape;607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8" name="Google Shape;608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9" name="Google Shape;609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0" name="Google Shape;610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3" name="Google Shape;613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4" name="Google Shape;614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5" name="Google Shape;615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6" name="Google Shape;616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9" name="Google Shape;619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0" name="Google Shape;620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5" name="Google Shape;625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6" name="Google Shape;626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7" name="Google Shape;627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8" name="Google Shape;628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9" name="Google Shape;629;p28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0" name="Google Shape;630;p28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28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28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3" name="Google Shape;633;p28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28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28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6" name="Google Shape;636;p28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28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28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28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28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28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28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28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46" name="Google Shape;646;p29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9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9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29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29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9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9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9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9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9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9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29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8" name="Google Shape;658;p29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9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0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30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63" name="Google Shape;663;p30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4" name="Google Shape;664;p30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5" name="Google Shape;665;p30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6" name="Google Shape;666;p30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7" name="Google Shape;667;p30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30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74" name="Google Shape;674;p30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75" name="Google Shape;675;p30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30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30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30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30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30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81" name="Google Shape;681;p3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2" name="Google Shape;682;p3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83" name="Google Shape;683;p3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84" name="Google Shape;684;p3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5" name="Google Shape;685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6" name="Google Shape;686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7" name="Google Shape;687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8" name="Google Shape;688;p3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9" name="Google Shape;689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0" name="Google Shape;690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1" name="Google Shape;691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2" name="Google Shape;692;p3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93" name="Google Shape;693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4" name="Google Shape;694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6" name="Google Shape;696;p3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97" name="Google Shape;697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8" name="Google Shape;698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99" name="Google Shape;699;p3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00" name="Google Shape;700;p30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1" name="Google Shape;701;p30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02" name="Google Shape;702;p30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30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30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30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30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1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9" name="Google Shape;709;p31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710" name="Google Shape;710;p31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711" name="Google Shape;711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12" name="Google Shape;71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3" name="Google Shape;71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4" name="Google Shape;71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5" name="Google Shape;71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21" name="Google Shape;721;p31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722" name="Google Shape;72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23" name="Google Shape;72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4" name="Google Shape;72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5" name="Google Shape;72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26" name="Google Shape;72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7" name="Google Shape;72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8" name="Google Shape;72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29" name="Google Shape;72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0" name="Google Shape;73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31" name="Google Shape;731;p31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732" name="Google Shape;73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33" name="Google Shape;73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4" name="Google Shape;73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5" name="Google Shape;73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36" name="Google Shape;73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7" name="Google Shape;73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8" name="Google Shape;73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39" name="Google Shape;73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0" name="Google Shape;74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41" name="Google Shape;741;p31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742" name="Google Shape;74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43" name="Google Shape;74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4" name="Google Shape;74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45" name="Google Shape;74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46" name="Google Shape;74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7" name="Google Shape;74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48" name="Google Shape;748;p31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49" name="Google Shape;749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50" name="Google Shape;75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51" name="Google Shape;75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2" name="Google Shape;75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3" name="Google Shape;75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54" name="Google Shape;75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5" name="Google Shape;75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6" name="Google Shape;756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57" name="Google Shape;757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8" name="Google Shape;758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59" name="Google Shape;759;p31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60" name="Google Shape;76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61" name="Google Shape;76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2" name="Google Shape;76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3" name="Google Shape;76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64" name="Google Shape;76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5" name="Google Shape;76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66" name="Google Shape;766;p31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67" name="Google Shape;767;p31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31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31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0" name="Google Shape;770;p31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1" name="Google Shape;771;p31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2" name="Google Shape;772;p31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3" name="Google Shape;773;p31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4" name="Google Shape;774;p31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5" name="Google Shape;775;p31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2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81" name="Google Shape;781;p32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82" name="Google Shape;782;p32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32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4" name="Google Shape;784;p32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85" name="Google Shape;785;p32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32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32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32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32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32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32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32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32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32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32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32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32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32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32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00" name="Google Shape;800;p32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801" name="Google Shape;801;p32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02" name="Google Shape;802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3" name="Google Shape;80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4" name="Google Shape;80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5" name="Google Shape;80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6" name="Google Shape;80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2" name="Google Shape;812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3" name="Google Shape;81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4" name="Google Shape;81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5" name="Google Shape;81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6" name="Google Shape;81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2" name="Google Shape;822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23" name="Google Shape;82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4" name="Google Shape;82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5" name="Google Shape;82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6" name="Google Shape;82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32" name="Google Shape;832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33" name="Google Shape;83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4" name="Google Shape;83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5" name="Google Shape;83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36" name="Google Shape;83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7" name="Google Shape;83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8" name="Google Shape;83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839" name="Google Shape;839;p32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40" name="Google Shape;840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41" name="Google Shape;84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2" name="Google Shape;84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3" name="Google Shape;84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4" name="Google Shape;84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5" name="Google Shape;84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6" name="Google Shape;84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7" name="Google Shape;84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8" name="Google Shape;84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9" name="Google Shape;84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50" name="Google Shape;850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51" name="Google Shape;85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2" name="Google Shape;85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3" name="Google Shape;85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4" name="Google Shape;85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5" name="Google Shape;85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6" name="Google Shape;85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7" name="Google Shape;85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8" name="Google Shape;85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9" name="Google Shape;85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60" name="Google Shape;860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61" name="Google Shape;86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2" name="Google Shape;86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3" name="Google Shape;86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4" name="Google Shape;86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5" name="Google Shape;86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6" name="Google Shape;86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7" name="Google Shape;86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8" name="Google Shape;86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9" name="Google Shape;86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70" name="Google Shape;870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71" name="Google Shape;87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2" name="Google Shape;87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3" name="Google Shape;87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74" name="Google Shape;87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5" name="Google Shape;87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6" name="Google Shape;87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77" name="Google Shape;877;p32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32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9" name="Google Shape;879;p32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0" name="Google Shape;880;p32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1" name="Google Shape;881;p32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2" name="Google Shape;882;p32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3" name="Google Shape;883;p32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4" name="Google Shape;884;p32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5" name="Google Shape;885;p32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6" name="Google Shape;886;p32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7" name="Google Shape;887;p32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3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90" name="Google Shape;890;p3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3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3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3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3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3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3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7" name="Google Shape;897;p3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8" name="Google Shape;898;p3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9" name="Google Shape;899;p3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3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01" name="Google Shape;901;p33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2" name="Google Shape;902;p33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3" name="Google Shape;903;p33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4" name="Google Shape;904;p33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5" name="Google Shape;905;p33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6" name="Google Shape;906;p33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7" name="Google Shape;907;p33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8" name="Google Shape;908;p33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9" name="Google Shape;909;p33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0" name="Google Shape;910;p33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1" name="Google Shape;911;p33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2" name="Google Shape;912;p33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4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16" name="Google Shape;916;p34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917" name="Google Shape;917;p34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8" name="Google Shape;918;p34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924" name="Google Shape;924;p3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3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35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7" name="Google Shape;927;p35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8" name="Google Shape;928;p35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35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0" name="Google Shape;930;p35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3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933" name="Google Shape;933;p3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4" name="Google Shape;934;p3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3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6" name="Google Shape;936;p3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7" name="Google Shape;937;p3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8" name="Google Shape;938;p3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" name="Google Shape;939;p3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0" name="Google Shape;940;p3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3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2" name="Google Shape;942;p3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3" name="Google Shape;943;p3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944" name="Google Shape;944;p3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45" name="Google Shape;945;p3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46" name="Google Shape;946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7" name="Google Shape;947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8" name="Google Shape;948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49" name="Google Shape;949;p3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0" name="Google Shape;950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1" name="Google Shape;951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2" name="Google Shape;952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3" name="Google Shape;953;p3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4" name="Google Shape;954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5" name="Google Shape;955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6" name="Google Shape;956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7" name="Google Shape;957;p3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58" name="Google Shape;958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9" name="Google Shape;959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60" name="Google Shape;960;p3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61" name="Google Shape;961;p36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3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36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4" name="Google Shape;964;p36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5" name="Google Shape;965;p36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6" name="Google Shape;966;p36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7" name="Google Shape;967;p36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8" name="Google Shape;968;p36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9" name="Google Shape;969;p36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70" name="Google Shape;970;p36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3" name="Google Shape;97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8" name="Google Shape;97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1" name="Google Shape;981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2" name="Google Shape;982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7" name="Google Shape;987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2" name="Google Shape;99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3" name="Google Shape;99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8" name="Google Shape;998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2" name="Google Shape;1002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3" name="Google Shape;1003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4" name="Google Shape;1004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5" name="Google Shape;1005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6" name="Google Shape;1006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7" name="Google Shape;1007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0" name="Google Shape;1010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1" name="Google Shape;1011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4" name="Google Shape;1014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5" name="Google Shape;1015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6" name="Google Shape;1016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7" name="Google Shape;1017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0" name="Google Shape;1020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1" name="Google Shape;1021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2" name="Google Shape;1022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3" name="Google Shape;1023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4" name="Google Shape;1024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5" name="Google Shape;1025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8" name="Google Shape;102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1" name="Google Shape;103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2" name="Google Shape;103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3" name="Google Shape;103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4" name="Google Shape;103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5" name="Google Shape;103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6" name="Google Shape;103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9" name="Google Shape;103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1" name="Google Shape;104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2" name="Google Shape;104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3" name="Google Shape;104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4" name="Google Shape;104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5" name="Google Shape;104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6" name="Google Shape;104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7" name="Google Shape;104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5" name="Google Shape;105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8" name="Google Shape;105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3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7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"/>
              <a:t>STAT 230 Final Project</a:t>
            </a:r>
            <a:endParaRPr/>
          </a:p>
        </p:txBody>
      </p:sp>
      <p:sp>
        <p:nvSpPr>
          <p:cNvPr id="1066" name="Google Shape;1066;p57"/>
          <p:cNvSpPr txBox="1"/>
          <p:nvPr>
            <p:ph idx="2" type="title"/>
          </p:nvPr>
        </p:nvSpPr>
        <p:spPr>
          <a:xfrm rot="-53728">
            <a:off x="5546896" y="32285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May </a:t>
            </a:r>
            <a:endParaRPr/>
          </a:p>
        </p:txBody>
      </p:sp>
      <p:sp>
        <p:nvSpPr>
          <p:cNvPr id="1067" name="Google Shape;1067;p57"/>
          <p:cNvSpPr txBox="1"/>
          <p:nvPr>
            <p:ph idx="1" type="body"/>
          </p:nvPr>
        </p:nvSpPr>
        <p:spPr>
          <a:xfrm>
            <a:off x="2655375" y="4170725"/>
            <a:ext cx="3615000" cy="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600">
                <a:latin typeface="Manrope"/>
                <a:ea typeface="Manrope"/>
                <a:cs typeface="Manrope"/>
                <a:sym typeface="Manrope"/>
              </a:rPr>
              <a:t>GDP, Health Spending, and Life Expectancy</a:t>
            </a:r>
            <a:endParaRPr b="1" sz="16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8" name="Google Shape;1068;p57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069" name="Google Shape;1069;p57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Kevin Igiehon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8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/>
              <a:t>Source - World Bank Open Data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/>
              <a:t>Countries from all regions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/>
              <a:t>Key </a:t>
            </a:r>
            <a:r>
              <a:rPr lang="en" sz="1800"/>
              <a:t>Variables</a:t>
            </a:r>
            <a:endParaRPr sz="1800"/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GDP per capita</a:t>
            </a:r>
            <a:endParaRPr sz="1800"/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Health expenditure (% of GDP)</a:t>
            </a:r>
            <a:endParaRPr sz="1800"/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Life expectancy</a:t>
            </a:r>
            <a:endParaRPr sz="1800"/>
          </a:p>
          <a:p>
            <a:pPr indent="-34290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Population</a:t>
            </a:r>
            <a:endParaRPr sz="1800"/>
          </a:p>
        </p:txBody>
      </p:sp>
      <p:sp>
        <p:nvSpPr>
          <p:cNvPr id="1075" name="Google Shape;1075;p58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2100"/>
              <a:t>Dataset Overview</a:t>
            </a:r>
            <a:endParaRPr sz="210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59"/>
          <p:cNvSpPr/>
          <p:nvPr/>
        </p:nvSpPr>
        <p:spPr>
          <a:xfrm rot="-197769">
            <a:off x="956760" y="911344"/>
            <a:ext cx="2770583" cy="337277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800"/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1" name="Google Shape;1081;p59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/>
              <a:t>Does GDP Affect Life Expectancy?</a:t>
            </a:r>
            <a:endParaRPr sz="1800"/>
          </a:p>
        </p:txBody>
      </p:sp>
      <p:sp>
        <p:nvSpPr>
          <p:cNvPr id="1082" name="Google Shape;1082;p59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Question #1</a:t>
            </a:r>
            <a:endParaRPr/>
          </a:p>
        </p:txBody>
      </p:sp>
      <p:sp>
        <p:nvSpPr>
          <p:cNvPr id="1083" name="Google Shape;1083;p59"/>
          <p:cNvSpPr txBox="1"/>
          <p:nvPr>
            <p:ph idx="13" type="body"/>
          </p:nvPr>
        </p:nvSpPr>
        <p:spPr>
          <a:xfrm>
            <a:off x="4831275" y="834575"/>
            <a:ext cx="3005100" cy="3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rPr lang="en" sz="1400"/>
              <a:t>Compared high vs low  GDP per capita</a:t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rPr lang="en" sz="1400"/>
              <a:t>groups</a:t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rPr lang="en" sz="1400"/>
              <a:t>Used two-sample t-test and boxplot</a:t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rPr lang="en" sz="1400"/>
              <a:t>Result: Higher GDP countries had greater life expectancy</a:t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60"/>
          <p:cNvGrpSpPr/>
          <p:nvPr/>
        </p:nvGrpSpPr>
        <p:grpSpPr>
          <a:xfrm rot="-124136">
            <a:off x="5398239" y="2537367"/>
            <a:ext cx="3546343" cy="2668465"/>
            <a:chOff x="5397657" y="2537451"/>
            <a:chExt cx="3546514" cy="2668593"/>
          </a:xfrm>
        </p:grpSpPr>
        <p:sp>
          <p:nvSpPr>
            <p:cNvPr id="1089" name="Google Shape;1089;p60"/>
            <p:cNvSpPr/>
            <p:nvPr/>
          </p:nvSpPr>
          <p:spPr>
            <a:xfrm>
              <a:off x="5397657" y="2537451"/>
              <a:ext cx="3170875" cy="2653775"/>
            </a:xfrm>
            <a:custGeom>
              <a:rect b="b" l="l" r="r" t="t"/>
              <a:pathLst>
                <a:path extrusionOk="0" h="106151" w="126835">
                  <a:moveTo>
                    <a:pt x="0" y="2017"/>
                  </a:moveTo>
                  <a:lnTo>
                    <a:pt x="2627" y="102375"/>
                  </a:lnTo>
                  <a:lnTo>
                    <a:pt x="126835" y="106151"/>
                  </a:lnTo>
                  <a:lnTo>
                    <a:pt x="1246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090" name="Google Shape;1090;p60"/>
            <p:cNvSpPr/>
            <p:nvPr/>
          </p:nvSpPr>
          <p:spPr>
            <a:xfrm>
              <a:off x="5750621" y="3028094"/>
              <a:ext cx="3193550" cy="2177950"/>
            </a:xfrm>
            <a:custGeom>
              <a:rect b="b" l="l" r="r" t="t"/>
              <a:pathLst>
                <a:path extrusionOk="0" h="87118" w="127742">
                  <a:moveTo>
                    <a:pt x="0" y="2401"/>
                  </a:moveTo>
                  <a:lnTo>
                    <a:pt x="4841" y="85100"/>
                  </a:lnTo>
                  <a:lnTo>
                    <a:pt x="127742" y="87118"/>
                  </a:lnTo>
                  <a:lnTo>
                    <a:pt x="1225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sp>
        <p:nvSpPr>
          <p:cNvPr id="1091" name="Google Shape;1091;p60"/>
          <p:cNvSpPr txBox="1"/>
          <p:nvPr>
            <p:ph idx="1" type="body"/>
          </p:nvPr>
        </p:nvSpPr>
        <p:spPr>
          <a:xfrm>
            <a:off x="518850" y="9475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Used linear regression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Plotted health spending vs life expectancy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Result: </a:t>
            </a:r>
            <a:r>
              <a:rPr lang="en" sz="1600"/>
              <a:t>Statistically</a:t>
            </a:r>
            <a:r>
              <a:rPr lang="en" sz="1600"/>
              <a:t> significant positive relationship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</p:txBody>
      </p:sp>
      <p:sp>
        <p:nvSpPr>
          <p:cNvPr id="1092" name="Google Shape;1092;p60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000">
                <a:solidFill>
                  <a:schemeClr val="dk1"/>
                </a:solidFill>
              </a:rPr>
              <a:t>Question #2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093" name="Google Shape;1093;p60"/>
          <p:cNvSpPr txBox="1"/>
          <p:nvPr>
            <p:ph idx="3" type="subTitle"/>
          </p:nvPr>
        </p:nvSpPr>
        <p:spPr>
          <a:xfrm rot="-182643">
            <a:off x="585396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Does Health Spending Predict Life Expectancy?</a:t>
            </a:r>
            <a:endParaRPr sz="1500"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61"/>
          <p:cNvSpPr txBox="1"/>
          <p:nvPr/>
        </p:nvSpPr>
        <p:spPr>
          <a:xfrm>
            <a:off x="1061075" y="4614359"/>
            <a:ext cx="1920900" cy="25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9" name="Google Shape;1099;p61"/>
          <p:cNvSpPr txBox="1"/>
          <p:nvPr/>
        </p:nvSpPr>
        <p:spPr>
          <a:xfrm rot="-213274">
            <a:off x="3775550" y="4660812"/>
            <a:ext cx="1920996" cy="2551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0" name="Google Shape;1100;p61"/>
          <p:cNvSpPr txBox="1"/>
          <p:nvPr/>
        </p:nvSpPr>
        <p:spPr>
          <a:xfrm rot="215987">
            <a:off x="6368941" y="4639226"/>
            <a:ext cx="1920790" cy="25519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1" name="Google Shape;1101;p61"/>
          <p:cNvSpPr txBox="1"/>
          <p:nvPr>
            <p:ph idx="1" type="subTitle"/>
          </p:nvPr>
        </p:nvSpPr>
        <p:spPr>
          <a:xfrm>
            <a:off x="1187675" y="4628909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HISTOGRAM</a:t>
            </a:r>
            <a:endParaRPr b="1"/>
          </a:p>
        </p:txBody>
      </p:sp>
      <p:sp>
        <p:nvSpPr>
          <p:cNvPr id="1102" name="Google Shape;1102;p61"/>
          <p:cNvSpPr txBox="1"/>
          <p:nvPr>
            <p:ph idx="7" type="subTitle"/>
          </p:nvPr>
        </p:nvSpPr>
        <p:spPr>
          <a:xfrm rot="-214117">
            <a:off x="4029575" y="4653651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BOXPLOT</a:t>
            </a:r>
            <a:endParaRPr b="1"/>
          </a:p>
        </p:txBody>
      </p:sp>
      <p:sp>
        <p:nvSpPr>
          <p:cNvPr id="1103" name="Google Shape;1103;p61"/>
          <p:cNvSpPr txBox="1"/>
          <p:nvPr>
            <p:ph idx="8" type="subTitle"/>
          </p:nvPr>
        </p:nvSpPr>
        <p:spPr>
          <a:xfrm rot="215969">
            <a:off x="6495540" y="4653656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SCATTERPLOT</a:t>
            </a:r>
            <a:endParaRPr b="1"/>
          </a:p>
        </p:txBody>
      </p:sp>
      <p:sp>
        <p:nvSpPr>
          <p:cNvPr id="1104" name="Google Shape;1104;p61"/>
          <p:cNvSpPr txBox="1"/>
          <p:nvPr>
            <p:ph type="title"/>
          </p:nvPr>
        </p:nvSpPr>
        <p:spPr>
          <a:xfrm>
            <a:off x="871325" y="629125"/>
            <a:ext cx="7542900" cy="6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3000"/>
              <a:t>Summary of Visuals</a:t>
            </a:r>
            <a:endParaRPr sz="3000"/>
          </a:p>
        </p:txBody>
      </p:sp>
      <p:pic>
        <p:nvPicPr>
          <p:cNvPr descr="hist_life_expectancy.png" id="1105" name="Google Shape;110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477" y="1938938"/>
            <a:ext cx="2343705" cy="1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xplot_life_by_gdp.png" id="1106" name="Google Shape;110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2575" y="1950649"/>
            <a:ext cx="2300400" cy="1242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atter_health_vs_life.png" id="1107" name="Google Shape;1107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6385" y="1895478"/>
            <a:ext cx="228600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62"/>
          <p:cNvGrpSpPr/>
          <p:nvPr/>
        </p:nvGrpSpPr>
        <p:grpSpPr>
          <a:xfrm>
            <a:off x="5159925" y="3821618"/>
            <a:ext cx="1548447" cy="795900"/>
            <a:chOff x="5159925" y="3821618"/>
            <a:chExt cx="1548447" cy="795900"/>
          </a:xfrm>
        </p:grpSpPr>
        <p:sp>
          <p:nvSpPr>
            <p:cNvPr id="1113" name="Google Shape;1113;p62"/>
            <p:cNvSpPr/>
            <p:nvPr/>
          </p:nvSpPr>
          <p:spPr>
            <a:xfrm flipH="1" rot="-252108">
              <a:off x="5198874" y="3875145"/>
              <a:ext cx="1486295" cy="688846"/>
            </a:xfrm>
            <a:prstGeom prst="snip1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r>
                <a:t/>
              </a:r>
              <a:endParaRPr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14" name="Google Shape;1114;p62"/>
            <p:cNvSpPr/>
            <p:nvPr/>
          </p:nvSpPr>
          <p:spPr>
            <a:xfrm rot="-6229404">
              <a:off x="5188056" y="3915551"/>
              <a:ext cx="97937" cy="134681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115" name="Google Shape;1115;p62"/>
          <p:cNvSpPr txBox="1"/>
          <p:nvPr>
            <p:ph type="title"/>
          </p:nvPr>
        </p:nvSpPr>
        <p:spPr>
          <a:xfrm>
            <a:off x="449425" y="2063850"/>
            <a:ext cx="61497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16" name="Google Shape;1116;p62"/>
          <p:cNvSpPr txBox="1"/>
          <p:nvPr>
            <p:ph idx="1" type="body"/>
          </p:nvPr>
        </p:nvSpPr>
        <p:spPr>
          <a:xfrm>
            <a:off x="563750" y="3079650"/>
            <a:ext cx="449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200"/>
              <a:t>High GDP = longer life expectancy</a:t>
            </a:r>
            <a:endParaRPr sz="1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200"/>
              <a:t>Health spending is a key predictor of </a:t>
            </a:r>
            <a:r>
              <a:rPr lang="en" sz="1200"/>
              <a:t>lifespan</a:t>
            </a:r>
            <a:endParaRPr sz="1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200"/>
              <a:t>Simple stats can uncover real-world insights</a:t>
            </a:r>
            <a:endParaRPr sz="1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200"/>
              <a:t>Bottom Line: Economic strength and </a:t>
            </a:r>
            <a:r>
              <a:rPr lang="en" sz="1200"/>
              <a:t>investment in health save lives.</a:t>
            </a:r>
            <a:endParaRPr sz="1200"/>
          </a:p>
        </p:txBody>
      </p:sp>
      <p:sp>
        <p:nvSpPr>
          <p:cNvPr id="1117" name="Google Shape;1117;p62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